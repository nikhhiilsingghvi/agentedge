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6858000" cy="9144000"/>
  <p:embeddedFontLst>
    <p:embeddedFont>
      <p:font typeface="Times New Roman Bold" charset="1" panose="02020803070505020304"/>
      <p:regular r:id="rId17"/>
    </p:embeddedFont>
    <p:embeddedFont>
      <p:font typeface="Montserrat Bold" charset="1" panose="00000600000000000000"/>
      <p:regular r:id="rId18"/>
    </p:embeddedFont>
    <p:embeddedFont>
      <p:font typeface="IBM Plex Sans Condensed Bold" charset="1" panose="020B0806050203000203"/>
      <p:regular r:id="rId19"/>
    </p:embeddedFont>
    <p:embeddedFont>
      <p:font typeface="IBM Plex Sans Bold" charset="1" panose="020B0803050203000203"/>
      <p:regular r:id="rId20"/>
    </p:embeddedFont>
    <p:embeddedFont>
      <p:font typeface="Calibri (MS)" charset="1" panose="020F0502020204030204"/>
      <p:regular r:id="rId21"/>
    </p:embeddedFont>
    <p:embeddedFont>
      <p:font typeface="Times New Roman" charset="1" panose="02020603050405020304"/>
      <p:regular r:id="rId22"/>
    </p:embeddedFont>
    <p:embeddedFont>
      <p:font typeface="Times New Roman Bold Italics" charset="1" panose="02020703060505090304"/>
      <p:regular r:id="rId23"/>
    </p:embeddedFont>
    <p:embeddedFont>
      <p:font typeface="Canva Sans Bold" charset="1" panose="020B0803030501040103"/>
      <p:regular r:id="rId24"/>
    </p:embeddedFont>
    <p:embeddedFont>
      <p:font typeface="Arimo" charset="1" panose="020B0604020202020204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pn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embeddings/oleObject1.bin" Type="http://schemas.openxmlformats.org/officeDocument/2006/relationships/oleObjec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agentedge-analysis.vercel.app" TargetMode="External" Type="http://schemas.openxmlformats.org/officeDocument/2006/relationships/hyperlink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6200" y="96136"/>
            <a:ext cx="1133275" cy="1173109"/>
          </a:xfrm>
          <a:custGeom>
            <a:avLst/>
            <a:gdLst/>
            <a:ahLst/>
            <a:cxnLst/>
            <a:rect r="r" b="b" t="t" l="l"/>
            <a:pathLst>
              <a:path h="1173109" w="1133275">
                <a:moveTo>
                  <a:pt x="0" y="0"/>
                </a:moveTo>
                <a:lnTo>
                  <a:pt x="1133275" y="0"/>
                </a:lnTo>
                <a:lnTo>
                  <a:pt x="1133275" y="1173108"/>
                </a:lnTo>
                <a:lnTo>
                  <a:pt x="0" y="1173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9922" y="3568989"/>
            <a:ext cx="11811000" cy="1569663"/>
          </a:xfrm>
          <a:custGeom>
            <a:avLst/>
            <a:gdLst/>
            <a:ahLst/>
            <a:cxnLst/>
            <a:rect r="r" b="b" t="t" l="l"/>
            <a:pathLst>
              <a:path h="1569663" w="11811000">
                <a:moveTo>
                  <a:pt x="0" y="0"/>
                </a:moveTo>
                <a:lnTo>
                  <a:pt x="11811000" y="0"/>
                </a:lnTo>
                <a:lnTo>
                  <a:pt x="11811000" y="1569663"/>
                </a:lnTo>
                <a:lnTo>
                  <a:pt x="0" y="156966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23686" y="37976"/>
            <a:ext cx="8491223" cy="936622"/>
          </a:xfrm>
          <a:custGeom>
            <a:avLst/>
            <a:gdLst/>
            <a:ahLst/>
            <a:cxnLst/>
            <a:rect r="r" b="b" t="t" l="l"/>
            <a:pathLst>
              <a:path h="936622" w="8491223">
                <a:moveTo>
                  <a:pt x="0" y="0"/>
                </a:moveTo>
                <a:lnTo>
                  <a:pt x="8491223" y="0"/>
                </a:lnTo>
                <a:lnTo>
                  <a:pt x="8491223" y="936622"/>
                </a:lnTo>
                <a:lnTo>
                  <a:pt x="0" y="9366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239000" y="5867400"/>
            <a:ext cx="4267448" cy="830999"/>
          </a:xfrm>
          <a:custGeom>
            <a:avLst/>
            <a:gdLst/>
            <a:ahLst/>
            <a:cxnLst/>
            <a:rect r="r" b="b" t="t" l="l"/>
            <a:pathLst>
              <a:path h="830999" w="4267448">
                <a:moveTo>
                  <a:pt x="0" y="0"/>
                </a:moveTo>
                <a:lnTo>
                  <a:pt x="4267448" y="0"/>
                </a:lnTo>
                <a:lnTo>
                  <a:pt x="4267448" y="830999"/>
                </a:lnTo>
                <a:lnTo>
                  <a:pt x="0" y="83099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0765" y="2134152"/>
            <a:ext cx="12210888" cy="1342720"/>
          </a:xfrm>
          <a:custGeom>
            <a:avLst/>
            <a:gdLst/>
            <a:ahLst/>
            <a:cxnLst/>
            <a:rect r="r" b="b" t="t" l="l"/>
            <a:pathLst>
              <a:path h="1342720" w="12210888">
                <a:moveTo>
                  <a:pt x="0" y="0"/>
                </a:moveTo>
                <a:lnTo>
                  <a:pt x="12210889" y="0"/>
                </a:lnTo>
                <a:lnTo>
                  <a:pt x="12210889" y="1342721"/>
                </a:lnTo>
                <a:lnTo>
                  <a:pt x="0" y="13427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74754" y="10982"/>
            <a:ext cx="1076239" cy="1261758"/>
          </a:xfrm>
          <a:custGeom>
            <a:avLst/>
            <a:gdLst/>
            <a:ahLst/>
            <a:cxnLst/>
            <a:rect r="r" b="b" t="t" l="l"/>
            <a:pathLst>
              <a:path h="1261758" w="1076239">
                <a:moveTo>
                  <a:pt x="0" y="0"/>
                </a:moveTo>
                <a:lnTo>
                  <a:pt x="1076240" y="0"/>
                </a:lnTo>
                <a:lnTo>
                  <a:pt x="1076240" y="1261758"/>
                </a:lnTo>
                <a:lnTo>
                  <a:pt x="0" y="1261758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228337" y="39348"/>
            <a:ext cx="827875" cy="1205046"/>
          </a:xfrm>
          <a:custGeom>
            <a:avLst/>
            <a:gdLst/>
            <a:ahLst/>
            <a:cxnLst/>
            <a:rect r="r" b="b" t="t" l="l"/>
            <a:pathLst>
              <a:path h="1205046" w="827875">
                <a:moveTo>
                  <a:pt x="0" y="0"/>
                </a:moveTo>
                <a:lnTo>
                  <a:pt x="827875" y="0"/>
                </a:lnTo>
                <a:lnTo>
                  <a:pt x="827875" y="1205046"/>
                </a:lnTo>
                <a:lnTo>
                  <a:pt x="0" y="120504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76200" y="96136"/>
            <a:ext cx="1133275" cy="1173109"/>
            <a:chOff x="0" y="0"/>
            <a:chExt cx="1511033" cy="156414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511046" cy="1564132"/>
            </a:xfrm>
            <a:custGeom>
              <a:avLst/>
              <a:gdLst/>
              <a:ahLst/>
              <a:cxnLst/>
              <a:rect r="r" b="b" t="t" l="l"/>
              <a:pathLst>
                <a:path h="1564132" w="1511046">
                  <a:moveTo>
                    <a:pt x="0" y="0"/>
                  </a:moveTo>
                  <a:lnTo>
                    <a:pt x="1511046" y="0"/>
                  </a:lnTo>
                  <a:lnTo>
                    <a:pt x="1511046" y="1564132"/>
                  </a:lnTo>
                  <a:lnTo>
                    <a:pt x="0" y="15641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-7409" r="-106665" b="-7406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0074754" y="10982"/>
            <a:ext cx="1076239" cy="1261758"/>
            <a:chOff x="0" y="0"/>
            <a:chExt cx="1434986" cy="168234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34973" cy="1682369"/>
            </a:xfrm>
            <a:custGeom>
              <a:avLst/>
              <a:gdLst/>
              <a:ahLst/>
              <a:cxnLst/>
              <a:rect r="r" b="b" t="t" l="l"/>
              <a:pathLst>
                <a:path h="1682369" w="1434973">
                  <a:moveTo>
                    <a:pt x="0" y="0"/>
                  </a:moveTo>
                  <a:lnTo>
                    <a:pt x="1434973" y="0"/>
                  </a:lnTo>
                  <a:lnTo>
                    <a:pt x="1434973" y="1682369"/>
                  </a:lnTo>
                  <a:lnTo>
                    <a:pt x="0" y="16823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-110168" t="-7409" r="0" b="-7403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228337" y="39348"/>
            <a:ext cx="827875" cy="1205046"/>
            <a:chOff x="0" y="0"/>
            <a:chExt cx="1103833" cy="16067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3884" cy="1606677"/>
            </a:xfrm>
            <a:custGeom>
              <a:avLst/>
              <a:gdLst/>
              <a:ahLst/>
              <a:cxnLst/>
              <a:rect r="r" b="b" t="t" l="l"/>
              <a:pathLst>
                <a:path h="1606677" w="1103884">
                  <a:moveTo>
                    <a:pt x="0" y="0"/>
                  </a:moveTo>
                  <a:lnTo>
                    <a:pt x="1103884" y="0"/>
                  </a:lnTo>
                  <a:lnTo>
                    <a:pt x="1103884" y="1606677"/>
                  </a:lnTo>
                  <a:lnTo>
                    <a:pt x="0" y="16066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4" b="-3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100089" y="1199493"/>
            <a:ext cx="12040343" cy="1088841"/>
          </a:xfrm>
          <a:custGeom>
            <a:avLst/>
            <a:gdLst/>
            <a:ahLst/>
            <a:cxnLst/>
            <a:rect r="r" b="b" t="t" l="l"/>
            <a:pathLst>
              <a:path h="1088841" w="12040343">
                <a:moveTo>
                  <a:pt x="0" y="0"/>
                </a:moveTo>
                <a:lnTo>
                  <a:pt x="12040343" y="0"/>
                </a:lnTo>
                <a:lnTo>
                  <a:pt x="12040343" y="1088841"/>
                </a:lnTo>
                <a:lnTo>
                  <a:pt x="0" y="1088841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53343" y="2947924"/>
            <a:ext cx="11902869" cy="879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b="true" sz="2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Agen</a:t>
            </a:r>
            <a:r>
              <a:rPr lang="en-US" b="true" sz="25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tEdge: Resource-Adaptive and Fault-Tolerant Agentic AI for Embedded Edge Systems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351919" y="5873344"/>
            <a:ext cx="412004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b="true" sz="2799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Prof. Vibha T. G.</a:t>
            </a:r>
          </a:p>
          <a:p>
            <a:pPr algn="ct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Assistant Professor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005078" y="2248167"/>
            <a:ext cx="249572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b="true" sz="20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Batch No. :06 Subject code : 22EC76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5647" y="3970274"/>
            <a:ext cx="11280800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80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USN : 1DS23EC002  (Sec-A)    Name : Aashika R</a:t>
            </a:r>
          </a:p>
          <a:p>
            <a:pPr algn="just">
              <a:lnSpc>
                <a:spcPts val="2880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USN : 1DS23EC131  (Sec-C)    Name : Nandini Kanni </a:t>
            </a:r>
          </a:p>
          <a:p>
            <a:pPr algn="just">
              <a:lnSpc>
                <a:spcPts val="2880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USN : 1DS23EC140  (Sec-C)    Name : Nikhil Singhvi  </a:t>
            </a:r>
          </a:p>
          <a:p>
            <a:pPr algn="just">
              <a:lnSpc>
                <a:spcPts val="2880"/>
              </a:lnSpc>
            </a:pPr>
            <a:r>
              <a:rPr lang="en-US" b="true" sz="24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USN : 1DS23EC173  (Sec-C)    Name : Rishika Banerjee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30813" y="144609"/>
            <a:ext cx="7826054" cy="371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b="true" sz="2199" spc="19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Major Project Selection Phase Synopsis Presentation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863314" y="483384"/>
            <a:ext cx="105394" cy="40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21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66339" y="483384"/>
            <a:ext cx="2045075" cy="401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21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August</a:t>
            </a:r>
            <a:r>
              <a:rPr lang="en-US" b="true" sz="2400" spc="2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b="true" sz="2400" spc="21">
                <a:solidFill>
                  <a:srgbClr val="FF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2026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36643" y="1323089"/>
            <a:ext cx="9746075" cy="8435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b="true" sz="2799" spc="-33">
                <a:solidFill>
                  <a:srgbClr val="000000"/>
                </a:solidFill>
                <a:latin typeface="IBM Plex Sans Condensed Bold"/>
                <a:ea typeface="IBM Plex Sans Condensed Bold"/>
                <a:cs typeface="IBM Plex Sans Condensed Bold"/>
                <a:sym typeface="IBM Plex Sans Condensed Bold"/>
              </a:rPr>
              <a:t>Dayananda Sagar College of Engineering, Bangalore, Karnataka Department of Electronics &amp; Communication Engineering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134" y="388934"/>
            <a:ext cx="12023722" cy="782860"/>
          </a:xfrm>
          <a:custGeom>
            <a:avLst/>
            <a:gdLst/>
            <a:ahLst/>
            <a:cxnLst/>
            <a:rect r="r" b="b" t="t" l="l"/>
            <a:pathLst>
              <a:path h="782860" w="12023722">
                <a:moveTo>
                  <a:pt x="0" y="0"/>
                </a:moveTo>
                <a:lnTo>
                  <a:pt x="12023722" y="0"/>
                </a:lnTo>
                <a:lnTo>
                  <a:pt x="12023722" y="782860"/>
                </a:lnTo>
                <a:lnTo>
                  <a:pt x="0" y="7828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09600" y="1447800"/>
            <a:ext cx="10820400" cy="4401207"/>
          </a:xfrm>
          <a:custGeom>
            <a:avLst/>
            <a:gdLst/>
            <a:ahLst/>
            <a:cxnLst/>
            <a:rect r="r" b="b" t="t" l="l"/>
            <a:pathLst>
              <a:path h="4401207" w="10820400">
                <a:moveTo>
                  <a:pt x="0" y="0"/>
                </a:moveTo>
                <a:lnTo>
                  <a:pt x="10820400" y="0"/>
                </a:lnTo>
                <a:lnTo>
                  <a:pt x="10820400" y="4401207"/>
                </a:lnTo>
                <a:lnTo>
                  <a:pt x="0" y="4401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10600" y="462001"/>
            <a:ext cx="11184331" cy="6254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b="true" sz="3600" spc="-61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Overview of the project selection phase presentation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03161" y="1446962"/>
            <a:ext cx="274939" cy="30359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1. 2. 3. 4. 5. 6. 7.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72780" y="1530144"/>
            <a:ext cx="8136360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Literature Survey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Advantages / Applications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</a:p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of the future works/Road Map (Aug’26 – Nov’26)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6902" y="938531"/>
            <a:ext cx="6237184" cy="305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b="true" sz="2499" spc="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 Core Problem</a:t>
            </a:r>
          </a:p>
          <a:p>
            <a:pPr algn="just">
              <a:lnSpc>
                <a:spcPts val="1696"/>
              </a:lnSpc>
            </a:pPr>
          </a:p>
          <a:p>
            <a:pPr algn="just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agent systems like ChatGPT, LangGraph, and AutoGen are powerful - but they run entirely on cloud servers. They need internet, powerful GPUs, and constant connectivity.</a:t>
            </a:r>
          </a:p>
          <a:p>
            <a:pPr algn="just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Real-world embedded systems - factory sensors, medical monitors, agricultural nodes - need intelligence that works offline, on cheap hardware, in real-time.</a:t>
            </a:r>
          </a:p>
          <a:p>
            <a:pPr algn="just" marL="323850" indent="-161925" lvl="1">
              <a:lnSpc>
                <a:spcPts val="2100"/>
              </a:lnSpc>
              <a:buFont typeface="Arial"/>
              <a:buChar char="•"/>
            </a:pP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</a:t>
            </a: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xisting work has explored edge LLMs, embedded AI agents, and physical tool interaction, but unified empirical evaluation of agentic task execution under resource constraints and hardware failures remains limited.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6752687" y="1902967"/>
            <a:ext cx="5439313" cy="4179826"/>
          </a:xfrm>
          <a:custGeom>
            <a:avLst/>
            <a:gdLst/>
            <a:ahLst/>
            <a:cxnLst/>
            <a:rect r="r" b="b" t="t" l="l"/>
            <a:pathLst>
              <a:path h="4179826" w="5439313">
                <a:moveTo>
                  <a:pt x="0" y="0"/>
                </a:moveTo>
                <a:lnTo>
                  <a:pt x="5439313" y="0"/>
                </a:lnTo>
                <a:lnTo>
                  <a:pt x="5439313" y="4179827"/>
                </a:lnTo>
                <a:lnTo>
                  <a:pt x="0" y="41798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4095" t="-1753" r="-161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542347" y="271144"/>
            <a:ext cx="5107305" cy="72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1" indent="-442590" lvl="1">
              <a:lnSpc>
                <a:spcPts val="5739"/>
              </a:lnSpc>
              <a:spcBef>
                <a:spcPct val="0"/>
              </a:spcBef>
              <a:buAutoNum type="arabicPeriod" startAt="1"/>
            </a:pPr>
            <a:r>
              <a:rPr lang="en-US" b="true" sz="4099" spc="3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33875" y="4049097"/>
            <a:ext cx="6143238" cy="2666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  <a:spcBef>
                <a:spcPct val="0"/>
              </a:spcBef>
            </a:pPr>
            <a:r>
              <a:rPr lang="en-US" b="true" sz="2499" spc="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What AgentEdge Prop</a:t>
            </a:r>
            <a:r>
              <a:rPr lang="en-US" b="true" sz="2499" spc="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oses</a:t>
            </a:r>
          </a:p>
          <a:p>
            <a:pPr algn="just">
              <a:lnSpc>
                <a:spcPts val="797"/>
              </a:lnSpc>
              <a:spcBef>
                <a:spcPct val="0"/>
              </a:spcBef>
            </a:pP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Small Language Model (SLM)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TinyLlama 1.1B / Phi-3-Mini 3.8B as candidate on-device reasoning models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Real Sensor Tool-Use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GPIO-connected temperature, ultrasonic, camera, BLE actuators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Agent Loop on RPi5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Perceive → Plan → Execute → Verify → Recover, fully offline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AgentEdge-Bench</a:t>
            </a:r>
          </a:p>
          <a:p>
            <a:pPr algn="just">
              <a:lnSpc>
                <a:spcPts val="2100"/>
              </a:lnSpc>
              <a:spcBef>
                <a:spcPct val="0"/>
              </a:spcBef>
            </a:pP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AgentEdge-Bench: 20 tasks measuring success, RAM, energy, latency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Object 2" id="2"/>
          <p:cNvGraphicFramePr/>
          <p:nvPr/>
        </p:nvGraphicFramePr>
        <p:xfrm>
          <a:off x="0" y="903614"/>
          <a:ext cx="5657850" cy="4400550"/>
        </p:xfrm>
        <a:graphic>
          <a:graphicData uri="http://schemas.openxmlformats.org/presentationml/2006/ole">
            <p:oleObj imgW="6781800" imgH="5524500" r:id="rId3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2986980" y="12066"/>
            <a:ext cx="6218039" cy="673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1221" indent="-415610" lvl="1">
              <a:lnSpc>
                <a:spcPts val="5390"/>
              </a:lnSpc>
              <a:spcBef>
                <a:spcPct val="0"/>
              </a:spcBef>
              <a:buAutoNum type="arabicPeriod" startAt="1"/>
            </a:pPr>
            <a:r>
              <a:rPr lang="en-US" b="true" sz="3850" spc="34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LITERATURE SURVEY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36222" y="123515"/>
            <a:ext cx="6919556" cy="72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1" indent="-442590" lvl="1">
              <a:lnSpc>
                <a:spcPts val="5739"/>
              </a:lnSpc>
              <a:spcBef>
                <a:spcPct val="0"/>
              </a:spcBef>
              <a:buAutoNum type="arabicPeriod" startAt="1"/>
            </a:pPr>
            <a:r>
              <a:rPr lang="en-US" b="true" sz="4099" spc="3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76361" y="1123043"/>
            <a:ext cx="5872707" cy="54771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2"/>
              </a:lnSpc>
              <a:spcBef>
                <a:spcPct val="0"/>
              </a:spcBef>
            </a:pPr>
          </a:p>
          <a:p>
            <a:pPr algn="just" marL="483074" indent="-241537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2237" spc="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Current agentic AI systems are primarily designed for powerful cloud-based environments.</a:t>
            </a:r>
          </a:p>
          <a:p>
            <a:pPr algn="just" marL="483074" indent="-241537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2237" spc="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Embedded devices introduce constraints such as limited memory, CPU capacity, and unreliable hardware tools.</a:t>
            </a:r>
          </a:p>
          <a:p>
            <a:pPr algn="just" marL="483074" indent="-241537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2237" spc="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 these conditions, an agent may experience slower execution, failed tool calls, incomplete plans, or incorrect responses.</a:t>
            </a:r>
          </a:p>
          <a:p>
            <a:pPr algn="just" marL="483074" indent="-241537" lvl="1">
              <a:lnSpc>
                <a:spcPts val="3132"/>
              </a:lnSpc>
              <a:spcBef>
                <a:spcPct val="0"/>
              </a:spcBef>
              <a:buFont typeface="Arial"/>
              <a:buChar char="•"/>
            </a:pPr>
            <a:r>
              <a:rPr lang="en-US" sz="2237" spc="2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impact of these constraints on agentic AI task execution and reliability remains insufficiently characterized.</a:t>
            </a:r>
          </a:p>
          <a:p>
            <a:pPr algn="ctr">
              <a:lnSpc>
                <a:spcPts val="3132"/>
              </a:lnSpc>
              <a:spcBef>
                <a:spcPct val="0"/>
              </a:spcBef>
            </a:pPr>
          </a:p>
        </p:txBody>
      </p:sp>
      <p:grpSp>
        <p:nvGrpSpPr>
          <p:cNvPr name="Group 4" id="4"/>
          <p:cNvGrpSpPr/>
          <p:nvPr/>
        </p:nvGrpSpPr>
        <p:grpSpPr>
          <a:xfrm rot="0">
            <a:off x="6558507" y="1093272"/>
            <a:ext cx="5490525" cy="5649107"/>
            <a:chOff x="0" y="0"/>
            <a:chExt cx="2169096" cy="223174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69096" cy="2231746"/>
            </a:xfrm>
            <a:custGeom>
              <a:avLst/>
              <a:gdLst/>
              <a:ahLst/>
              <a:cxnLst/>
              <a:rect r="r" b="b" t="t" l="l"/>
              <a:pathLst>
                <a:path h="2231746" w="2169096">
                  <a:moveTo>
                    <a:pt x="15511" y="0"/>
                  </a:moveTo>
                  <a:lnTo>
                    <a:pt x="2153586" y="0"/>
                  </a:lnTo>
                  <a:cubicBezTo>
                    <a:pt x="2157699" y="0"/>
                    <a:pt x="2161645" y="1634"/>
                    <a:pt x="2164553" y="4543"/>
                  </a:cubicBezTo>
                  <a:cubicBezTo>
                    <a:pt x="2167462" y="7452"/>
                    <a:pt x="2169096" y="11397"/>
                    <a:pt x="2169096" y="15511"/>
                  </a:cubicBezTo>
                  <a:lnTo>
                    <a:pt x="2169096" y="2216236"/>
                  </a:lnTo>
                  <a:cubicBezTo>
                    <a:pt x="2169096" y="2220349"/>
                    <a:pt x="2167462" y="2224294"/>
                    <a:pt x="2164553" y="2227203"/>
                  </a:cubicBezTo>
                  <a:cubicBezTo>
                    <a:pt x="2161645" y="2230112"/>
                    <a:pt x="2157699" y="2231746"/>
                    <a:pt x="2153586" y="2231746"/>
                  </a:cubicBezTo>
                  <a:lnTo>
                    <a:pt x="15511" y="2231746"/>
                  </a:lnTo>
                  <a:cubicBezTo>
                    <a:pt x="11397" y="2231746"/>
                    <a:pt x="7452" y="2230112"/>
                    <a:pt x="4543" y="2227203"/>
                  </a:cubicBezTo>
                  <a:cubicBezTo>
                    <a:pt x="1634" y="2224294"/>
                    <a:pt x="0" y="2220349"/>
                    <a:pt x="0" y="2216236"/>
                  </a:cubicBezTo>
                  <a:lnTo>
                    <a:pt x="0" y="15511"/>
                  </a:lnTo>
                  <a:cubicBezTo>
                    <a:pt x="0" y="11397"/>
                    <a:pt x="1634" y="7452"/>
                    <a:pt x="4543" y="4543"/>
                  </a:cubicBezTo>
                  <a:cubicBezTo>
                    <a:pt x="7452" y="1634"/>
                    <a:pt x="11397" y="0"/>
                    <a:pt x="15511" y="0"/>
                  </a:cubicBezTo>
                  <a:close/>
                </a:path>
              </a:pathLst>
            </a:custGeom>
            <a:solidFill>
              <a:srgbClr val="E1EFD8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2169096" cy="22698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1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558507" y="1123043"/>
            <a:ext cx="5377920" cy="5569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38"/>
              </a:lnSpc>
            </a:pPr>
            <a:r>
              <a:rPr lang="en-US" b="true" sz="2527" spc="22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Four Specific Sub-Problems</a:t>
            </a:r>
          </a:p>
          <a:p>
            <a:pPr algn="l" marL="334644" indent="-167322" lvl="1">
              <a:lnSpc>
                <a:spcPts val="2743"/>
              </a:lnSpc>
              <a:buAutoNum type="arabicPeriod" startAt="1"/>
            </a:pPr>
            <a:r>
              <a:rPr lang="en-US" b="true" sz="1549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P1 - RAM Overfl</a:t>
            </a:r>
            <a:r>
              <a:rPr lang="en-US" b="true" sz="1549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ow Mid-Task: </a:t>
            </a:r>
            <a:r>
              <a:rPr lang="en-US" sz="1549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the agent plans a complex multi-step sequence, available RAM on RPi5 may be exhausted mid-execution. Existing embedded-agent approaches provide limited evaluation of mid-task resource exhaustion and recovery.</a:t>
            </a:r>
          </a:p>
          <a:p>
            <a:pPr algn="l" marL="334644" indent="-167322" lvl="1">
              <a:lnSpc>
                <a:spcPts val="2743"/>
              </a:lnSpc>
              <a:buAutoNum type="arabicPeriod" startAt="1"/>
            </a:pPr>
            <a:r>
              <a:rPr lang="en-US" b="true" sz="1549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P2 - Sensor Failure During Execution: </a:t>
            </a:r>
            <a:r>
              <a:rPr lang="en-US" sz="1549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Physical sensors can disconnect, timeout, or return invalid data during execution, requiring the agent to detect the failure and recover.</a:t>
            </a:r>
          </a:p>
          <a:p>
            <a:pPr algn="l" marL="334644" indent="-167322" lvl="1">
              <a:lnSpc>
                <a:spcPts val="2743"/>
              </a:lnSpc>
              <a:buAutoNum type="arabicPeriod" startAt="1"/>
            </a:pPr>
            <a:r>
              <a:rPr lang="en-US" b="true" sz="1549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P3 - No Embedded Agent Benchmark: </a:t>
            </a:r>
            <a:r>
              <a:rPr lang="en-US" sz="1549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Zero standardized benchmarks exist for agentic AI on embedded hardware. Researchers have no baseline to compare against.</a:t>
            </a:r>
          </a:p>
          <a:p>
            <a:pPr algn="l" marL="334644" indent="-167322" lvl="1">
              <a:lnSpc>
                <a:spcPts val="2743"/>
              </a:lnSpc>
              <a:buAutoNum type="arabicPeriod" startAt="1"/>
            </a:pPr>
            <a:r>
              <a:rPr lang="en-US" b="true" sz="1549" spc="13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P4 - SLM Performance Unknown at Edge: </a:t>
            </a:r>
            <a:r>
              <a:rPr lang="en-US" sz="1549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latency, memory, energy and task-success trade-offs of different SLMs for agentic tasks on RPi5 require further empirical characterization.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570333" y="-38736"/>
            <a:ext cx="3051334" cy="72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 spc="3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377" y="1192755"/>
            <a:ext cx="12137247" cy="5241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802" indent="-215901" lvl="1">
              <a:lnSpc>
                <a:spcPts val="3500"/>
              </a:lnSpc>
              <a:buAutoNum type="arabicPeriod" startAt="1"/>
            </a:pPr>
            <a:r>
              <a:rPr lang="en-US" b="true" sz="2000" i="true" spc="1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Deploy SLM on RPi5 Offline:</a:t>
            </a:r>
            <a:r>
              <a:rPr lang="en-US" sz="2000" spc="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spc="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Run TinyLlama 1.1B and Phi-3-Mini 3.8B (4-bit GGUF) via llama.cpp on Raspberry Pi 5 with zero cloud dependency</a:t>
            </a:r>
          </a:p>
          <a:p>
            <a:pPr algn="l" marL="431802" indent="-215901" lvl="1">
              <a:lnSpc>
                <a:spcPts val="3500"/>
              </a:lnSpc>
              <a:buAutoNum type="arabicPeriod" startAt="1"/>
            </a:pPr>
            <a:r>
              <a:rPr lang="en-US" b="true" sz="2000" i="true" spc="1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Build Complete Agent Loop:</a:t>
            </a:r>
            <a:r>
              <a:rPr lang="en-US" sz="2000" spc="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Implement Perceive → Plan → Execute → Verify → Recover loop in Python with 5 real sensor/actuator tools (GPIO, camera, BLE).</a:t>
            </a:r>
          </a:p>
          <a:p>
            <a:pPr algn="l" marL="431802" indent="-215901" lvl="1">
              <a:lnSpc>
                <a:spcPts val="3500"/>
              </a:lnSpc>
              <a:buAutoNum type="arabicPeriod" startAt="1"/>
            </a:pPr>
            <a:r>
              <a:rPr lang="en-US" b="true" sz="2000" i="true" spc="1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Resource-Adaptive Decomposition:</a:t>
            </a:r>
            <a:r>
              <a:rPr lang="en-US" sz="2000" spc="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Design and implement an algorithm that monitors live RAM/CPU usage and splits plan steps into sub-tasks when resources are constrained.</a:t>
            </a:r>
          </a:p>
          <a:p>
            <a:pPr algn="l" marL="431802" indent="-215901" lvl="1">
              <a:lnSpc>
                <a:spcPts val="3500"/>
              </a:lnSpc>
              <a:buAutoNum type="arabicPeriod" startAt="1"/>
            </a:pPr>
            <a:r>
              <a:rPr lang="en-US" b="true" sz="2000" i="true" spc="1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Sensor Failure Recovery Protocol:</a:t>
            </a:r>
            <a:r>
              <a:rPr lang="en-US" sz="2000" spc="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Formally define and implement failure classification (timeout / bad reading / disconnect) with automated recovery actions.</a:t>
            </a:r>
          </a:p>
          <a:p>
            <a:pPr algn="l" marL="431802" indent="-215901" lvl="1">
              <a:lnSpc>
                <a:spcPts val="3500"/>
              </a:lnSpc>
              <a:buAutoNum type="arabicPeriod" startAt="1"/>
            </a:pPr>
            <a:r>
              <a:rPr lang="en-US" b="true" sz="2000" i="true" spc="1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AgentEdge-Bench: 20-Task Suite:</a:t>
            </a:r>
            <a:r>
              <a:rPr lang="en-US" sz="2000" spc="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 the first standardized benchmark for embedded agentic AI - 20 tasks with ground-truth success metrics, publishable as a research artifact.</a:t>
            </a:r>
          </a:p>
          <a:p>
            <a:pPr algn="l" marL="431802" indent="-215901" lvl="1">
              <a:lnSpc>
                <a:spcPts val="3500"/>
              </a:lnSpc>
              <a:buAutoNum type="arabicPeriod" startAt="1"/>
            </a:pPr>
            <a:r>
              <a:rPr lang="en-US" b="true" sz="2000" i="true" spc="18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Measure Latency / RAM / Energy:</a:t>
            </a:r>
            <a:r>
              <a:rPr lang="en-US" sz="2000" spc="1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Characterize all agent components: tokens/sec, RAM per planning step, mJ per decision using INA219 current sensor on real hardware.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1238" y="3014344"/>
            <a:ext cx="9525" cy="72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2588133" y="400050"/>
            <a:ext cx="649021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 &amp; Literature Survey Analysis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869788" y="2661285"/>
            <a:ext cx="1926908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 u="sng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  <a:hlinkClick r:id="rId2" tooltip="https://agentedge-analysis.vercel.app"/>
              </a:rPr>
              <a:t>Analysis Link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7086" y="1261445"/>
            <a:ext cx="5204175" cy="5204175"/>
          </a:xfrm>
          <a:custGeom>
            <a:avLst/>
            <a:gdLst/>
            <a:ahLst/>
            <a:cxnLst/>
            <a:rect r="r" b="b" t="t" l="l"/>
            <a:pathLst>
              <a:path h="5204175" w="5204175">
                <a:moveTo>
                  <a:pt x="0" y="0"/>
                </a:moveTo>
                <a:lnTo>
                  <a:pt x="5204175" y="0"/>
                </a:lnTo>
                <a:lnTo>
                  <a:pt x="5204175" y="5204174"/>
                </a:lnTo>
                <a:lnTo>
                  <a:pt x="0" y="520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02025" y="1261445"/>
            <a:ext cx="5204175" cy="5204175"/>
          </a:xfrm>
          <a:custGeom>
            <a:avLst/>
            <a:gdLst/>
            <a:ahLst/>
            <a:cxnLst/>
            <a:rect r="r" b="b" t="t" l="l"/>
            <a:pathLst>
              <a:path h="5204175" w="5204175">
                <a:moveTo>
                  <a:pt x="0" y="0"/>
                </a:moveTo>
                <a:lnTo>
                  <a:pt x="5204175" y="0"/>
                </a:lnTo>
                <a:lnTo>
                  <a:pt x="5204175" y="5204174"/>
                </a:lnTo>
                <a:lnTo>
                  <a:pt x="0" y="52041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41895" y="271144"/>
            <a:ext cx="10108210" cy="72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85181" indent="-442590" lvl="1">
              <a:lnSpc>
                <a:spcPts val="5739"/>
              </a:lnSpc>
              <a:spcBef>
                <a:spcPct val="0"/>
              </a:spcBef>
              <a:buAutoNum type="arabicPeriod" startAt="1"/>
            </a:pPr>
            <a:r>
              <a:rPr lang="en-US" b="true" sz="4099" spc="36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ADVANTAGES AND APPLICATIONS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831184" y="1407487"/>
            <a:ext cx="3055980" cy="55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0"/>
              </a:lnSpc>
              <a:spcBef>
                <a:spcPct val="0"/>
              </a:spcBef>
            </a:pPr>
            <a:r>
              <a:rPr lang="en-US" sz="3150" spc="2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Advantages: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31557" y="2152651"/>
            <a:ext cx="4513908" cy="41452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3855" indent="-161927" lvl="1">
              <a:lnSpc>
                <a:spcPts val="2235"/>
              </a:lnSpc>
              <a:buAutoNum type="arabicPeriod" startAt="1"/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Fully </a:t>
            </a: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Offline Operation:</a:t>
            </a: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No internet, no API keys, no data leakage. Works in air-gapped industrial and medical environments.</a:t>
            </a:r>
          </a:p>
          <a:p>
            <a:pPr algn="l" marL="323855" indent="-161927" lvl="1">
              <a:lnSpc>
                <a:spcPts val="2235"/>
              </a:lnSpc>
              <a:buAutoNum type="arabicPeriod" startAt="1"/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Low-Cost Hardware:</a:t>
            </a: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Low-Cost Embedded Platform: Runs on Raspberry Pi 5 with low-cost peripheral hardware.</a:t>
            </a:r>
          </a:p>
          <a:p>
            <a:pPr algn="l" marL="323855" indent="-161927" lvl="1">
              <a:lnSpc>
                <a:spcPts val="2235"/>
              </a:lnSpc>
              <a:buAutoNum type="arabicPeriod" startAt="1"/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Energy Characterised:</a:t>
            </a: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Energy Characterization: Measures energy consumption per agentic decision/task using INA219.</a:t>
            </a:r>
          </a:p>
          <a:p>
            <a:pPr algn="l" marL="323855" indent="-161927" lvl="1">
              <a:lnSpc>
                <a:spcPts val="2235"/>
              </a:lnSpc>
              <a:buAutoNum type="arabicPeriod" startAt="1"/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Failure-Resilient:</a:t>
            </a: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Formal sensor failure recovery - critical for industrial reliability where sensors routinely malfunction.</a:t>
            </a:r>
          </a:p>
          <a:p>
            <a:pPr algn="l" marL="323855" indent="-161927" lvl="1">
              <a:lnSpc>
                <a:spcPts val="2235"/>
              </a:lnSpc>
              <a:buAutoNum type="arabicPeriod" startAt="1"/>
            </a:pPr>
            <a:r>
              <a:rPr lang="en-US" b="true" sz="1500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Benchmarkable &amp; Reproducible:</a:t>
            </a:r>
            <a:r>
              <a:rPr lang="en-US" sz="1500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AgentEdge-Bench lets future researchers directly compare improvements - follows open science principles.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519699" y="1876424"/>
            <a:ext cx="4768827" cy="3592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4"/>
              </a:lnSpc>
            </a:pPr>
          </a:p>
          <a:p>
            <a:pPr algn="l" marL="323848" indent="-161924" lvl="1">
              <a:lnSpc>
                <a:spcPts val="2234"/>
              </a:lnSpc>
              <a:buAutoNum type="arabicPeriod" startAt="1"/>
            </a:pPr>
            <a:r>
              <a:rPr lang="en-US" b="true" sz="1499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Smart Agriculture:</a:t>
            </a:r>
            <a:r>
              <a:rPr lang="en-US" sz="1499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 monitors soil moisture, temperature, light — autonomously controls irrigation and sends BLE alerts</a:t>
            </a:r>
          </a:p>
          <a:p>
            <a:pPr algn="l" marL="323848" indent="-161924" lvl="1">
              <a:lnSpc>
                <a:spcPts val="2234"/>
              </a:lnSpc>
              <a:buAutoNum type="arabicPeriod" startAt="1"/>
            </a:pPr>
            <a:r>
              <a:rPr lang="en-US" b="true" sz="1499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Industrial IoT:</a:t>
            </a:r>
            <a:r>
              <a:rPr lang="en-US" sz="1499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Factory floor agent monitors machine vibration, detects anomalies, triggers safety shutdown and alerts operator</a:t>
            </a:r>
          </a:p>
          <a:p>
            <a:pPr algn="l" marL="323848" indent="-161924" lvl="1">
              <a:lnSpc>
                <a:spcPts val="2234"/>
              </a:lnSpc>
              <a:buAutoNum type="arabicPeriod" startAt="1"/>
            </a:pPr>
            <a:r>
              <a:rPr lang="en-US" b="true" sz="1499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Disaster Response:</a:t>
            </a:r>
            <a:r>
              <a:rPr lang="en-US" sz="1499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Off-grid search &amp; rescue agent processes sensor data, plans routes, coordinates team via BLE mesh — works without internet</a:t>
            </a:r>
          </a:p>
          <a:p>
            <a:pPr algn="l" marL="323848" indent="-161924" lvl="1">
              <a:lnSpc>
                <a:spcPts val="2234"/>
              </a:lnSpc>
              <a:buAutoNum type="arabicPeriod" startAt="1"/>
            </a:pPr>
            <a:r>
              <a:rPr lang="en-US" b="true" sz="1499" i="true" spc="13">
                <a:solidFill>
                  <a:srgbClr val="000000"/>
                </a:solidFill>
                <a:latin typeface="Times New Roman Bold Italics"/>
                <a:ea typeface="Times New Roman Bold Italics"/>
                <a:cs typeface="Times New Roman Bold Italics"/>
                <a:sym typeface="Times New Roman Bold Italics"/>
              </a:rPr>
              <a:t>Research Platform:</a:t>
            </a:r>
            <a:r>
              <a:rPr lang="en-US" sz="1499" spc="13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AgentEdge-Bench provides a reproducible evaluation platform for future embedded-agent research.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802904" y="1407487"/>
            <a:ext cx="2202418" cy="55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10"/>
              </a:lnSpc>
              <a:spcBef>
                <a:spcPct val="0"/>
              </a:spcBef>
            </a:pPr>
            <a:r>
              <a:rPr lang="en-US" sz="3150" spc="2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Applications: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37656" y="271145"/>
            <a:ext cx="4116688" cy="72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</a:pPr>
            <a:r>
              <a:rPr lang="en-US" sz="40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REFERENCES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455093" y="2477999"/>
            <a:ext cx="99543" cy="10754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35"/>
              </a:lnSpc>
              <a:spcBef>
                <a:spcPct val="0"/>
              </a:spcBef>
            </a:pPr>
            <a:r>
              <a:rPr lang="en-US" sz="3025" spc="27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</a:p>
          <a:p>
            <a:pPr algn="ctr">
              <a:lnSpc>
                <a:spcPts val="423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178394" y="1458096"/>
            <a:ext cx="4426" cy="282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7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85800" y="1429521"/>
            <a:ext cx="10630191" cy="5515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[1] Shen et al., “</a:t>
            </a: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Large Language Models Empowered Autonomous Edge AI for Connected Intelligence,” IEEE Communications Magazine, vol. 62, no. 10, pp. 140–146, Oct. 2024.</a:t>
            </a:r>
          </a:p>
          <a:p>
            <a:pPr algn="l">
              <a:lnSpc>
                <a:spcPts val="2618"/>
              </a:lnSpc>
            </a:pP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[2] Yao et al., “ReAct: Synergizing Reasoning and Acting in Language Models,” International Conference on Learning Representations (ICLR), 2023.</a:t>
            </a:r>
          </a:p>
          <a:p>
            <a:pPr algn="l">
              <a:lnSpc>
                <a:spcPts val="2618"/>
              </a:lnSpc>
            </a:pP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[3] Navardi et al., “Metareasoning for Edge-Cloud Collaborative LLM Planning for Efficient Autonomous Navigation,” ACM Transactions on Embedded Computing Systems, 2025.</a:t>
            </a:r>
          </a:p>
          <a:p>
            <a:pPr algn="l">
              <a:lnSpc>
                <a:spcPts val="2618"/>
              </a:lnSpc>
            </a:pP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[4] Song et al., “LLM-Planner: Few-Shot Grounded Planning for Embodied Agents with Large Language Models,” IEEE/CVF International Conference on Computer Vision (ICCV), pp. 2986–2997, 2023.</a:t>
            </a:r>
          </a:p>
          <a:p>
            <a:pPr algn="l">
              <a:lnSpc>
                <a:spcPts val="2618"/>
              </a:lnSpc>
            </a:pP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[5] Qin et al., “Empirical Guidelines for Deploying LLMs onto Resource-Constrained Edge Devices,” ACM Transactions on Design Automation of Electronic Systems, 2024.</a:t>
            </a:r>
          </a:p>
          <a:p>
            <a:pPr algn="l">
              <a:lnSpc>
                <a:spcPts val="2618"/>
              </a:lnSpc>
            </a:pP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[6] Walczak et al., “ATLASv2: LLM-Guided Adaptive Landmark Acquisition and Navigation on the Edge,” AAAI Symposium Series, pp. 196–203, 2025.</a:t>
            </a:r>
          </a:p>
          <a:p>
            <a:pPr algn="l">
              <a:lnSpc>
                <a:spcPts val="2618"/>
              </a:lnSpc>
            </a:pP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[7] Rüb and Gerhards, “Toward a Modular Architecture for Embedded AI Agent Systems at the Edge,” arXiv preprint arXiv:2606.02862, 2026.</a:t>
            </a:r>
          </a:p>
          <a:p>
            <a:pPr algn="l">
              <a:lnSpc>
                <a:spcPts val="2618"/>
              </a:lnSpc>
            </a:pPr>
            <a:r>
              <a:rPr lang="en-US" sz="1745" spc="1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[8] Liu et al., “Adaptive and Resource-Efficient Agentic AI Systems for Mobile and Embedded Devices: A Survey,” arXiv preprint arXiv:2510.00078, 2025.</a:t>
            </a:r>
          </a:p>
          <a:p>
            <a:pPr algn="l">
              <a:lnSpc>
                <a:spcPts val="2618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24855" y="94616"/>
            <a:ext cx="9742289" cy="591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0"/>
              </a:lnSpc>
              <a:spcBef>
                <a:spcPct val="0"/>
              </a:spcBef>
            </a:pPr>
            <a:r>
              <a:rPr lang="en-US" sz="3350" spc="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Flow </a:t>
            </a:r>
            <a:r>
              <a:rPr lang="en-US" sz="3350" spc="3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of the future works/Road Map (Aug’26 – Nov’26)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344998" y="685800"/>
          <a:ext cx="9769776" cy="5849404"/>
        </p:xfrm>
        <a:graphic>
          <a:graphicData uri="http://schemas.openxmlformats.org/drawingml/2006/table">
            <a:tbl>
              <a:tblPr/>
              <a:tblGrid>
                <a:gridCol w="3207286"/>
                <a:gridCol w="3207286"/>
                <a:gridCol w="3355204"/>
              </a:tblGrid>
              <a:tr h="71670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PHASE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 b="true">
                          <a:solidFill>
                            <a:srgbClr val="000000"/>
                          </a:solidFill>
                          <a:latin typeface="Times New Roman Bold"/>
                          <a:ea typeface="Times New Roman Bold"/>
                          <a:cs typeface="Times New Roman Bold"/>
                          <a:sym typeface="Times New Roman Bold"/>
                        </a:rPr>
                        <a:t>DURATION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939"/>
                        </a:lnSpc>
                        <a:defRPr/>
                      </a:pPr>
                      <a:r>
                        <a:rPr lang="en-US" sz="2099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Implementation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6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PROBLEM STUDY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UGUST  2026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Deep-read 11 core papers</a:t>
                      </a:r>
                      <a:endParaRPr lang="en-US" sz="1100"/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Download &amp; setup public datasets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Install llama.cpp + Ollama on RPi5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 TinyLlama first inference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Define 20 benchmark task specifications</a:t>
                      </a:r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757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DESIGN PHASE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SEPTEMBER 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Perceive-Plan-Execute loop</a:t>
                      </a:r>
                      <a:endParaRPr lang="en-US" sz="1100"/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Integrate GPIO,BLE (bleak library)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 first 5 benchmark tasks end-to-end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Measure baseline latency per step</a:t>
                      </a:r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6652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ADAPTIVE AGENT DEVELOPMENT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OCTOBER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resource-adaptive decomposition algorithm</a:t>
                      </a:r>
                      <a:endParaRPr lang="en-US" sz="1100"/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Implement sensor failure classifier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Build 3-action recovery protocol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Run all 20 benchmark tasks</a:t>
                      </a:r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2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EXPERIMENTAL EVALUATION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679"/>
                        </a:lnSpc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NOVEMBER</a:t>
                      </a:r>
                      <a:endParaRPr lang="en-US" sz="1100"/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NA219 energy measurement per decision</a:t>
                      </a:r>
                      <a:endParaRPr lang="en-US" sz="1100"/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RAM profiling per planning step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TinyLlama vs Phi-3-Mini ablation study</a:t>
                      </a:r>
                    </a:p>
                    <a:p>
                      <a:pPr algn="l" marL="259080" indent="-129540" lvl="1">
                        <a:lnSpc>
                          <a:spcPts val="1679"/>
                        </a:lnSpc>
                        <a:buFont typeface="Arial"/>
                        <a:buChar char="•"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Complete 20-task benchmark results</a:t>
                      </a:r>
                    </a:p>
                  </a:txBody>
                  <a:tcPr marL="133350" marR="133350" marT="133350" marB="133350" anchor="ctr">
                    <a:lnL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1905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590800" y="1752600"/>
            <a:ext cx="7239000" cy="2929538"/>
          </a:xfrm>
          <a:custGeom>
            <a:avLst/>
            <a:gdLst/>
            <a:ahLst/>
            <a:cxnLst/>
            <a:rect r="r" b="b" t="t" l="l"/>
            <a:pathLst>
              <a:path h="2929538" w="7239000">
                <a:moveTo>
                  <a:pt x="0" y="0"/>
                </a:moveTo>
                <a:lnTo>
                  <a:pt x="7239000" y="0"/>
                </a:lnTo>
                <a:lnTo>
                  <a:pt x="7239000" y="2929538"/>
                </a:lnTo>
                <a:lnTo>
                  <a:pt x="0" y="2929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38781" y="1341935"/>
            <a:ext cx="10314438" cy="4174131"/>
            <a:chOff x="0" y="0"/>
            <a:chExt cx="9652000" cy="390605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652000" cy="3906012"/>
            </a:xfrm>
            <a:custGeom>
              <a:avLst/>
              <a:gdLst/>
              <a:ahLst/>
              <a:cxnLst/>
              <a:rect r="r" b="b" t="t" l="l"/>
              <a:pathLst>
                <a:path h="3906012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3906012"/>
                  </a:lnTo>
                  <a:lnTo>
                    <a:pt x="0" y="39060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DAHRy-NncAI</dc:identifier>
  <dcterms:modified xsi:type="dcterms:W3CDTF">2011-08-01T06:04:30Z</dcterms:modified>
  <cp:revision>1</cp:revision>
  <dc:title>Selection_Phase_ppt</dc:title>
</cp:coreProperties>
</file>